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ordmark-light-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9100"/>
            <a:ext cx="1432560" cy="510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609519"/>
            <a:ext cx="10972800" cy="1737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68"/>
              </a:lnSpc>
            </a:pPr>
            <a:r>
              <a:rPr sz="1140">
                <a:solidFill>
                  <a:srgbClr val="C04409"/>
                </a:solidFill>
                <a:latin typeface="Overpass Mono Medium"/>
              </a:rPr>
              <a:t>EVENT OR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" y="1932242"/>
            <a:ext cx="7467600" cy="160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00"/>
              </a:lnSpc>
            </a:pPr>
            <a:r>
              <a:rPr sz="5820" spc="-221">
                <a:solidFill>
                  <a:srgbClr val="17181C"/>
                </a:solidFill>
                <a:latin typeface="IBM Plex Sans Medm"/>
              </a:rPr>
              <a:t>Title of the talk,</a:t>
            </a:r>
          </a:p>
          <a:p>
            <a:pPr algn="l">
              <a:lnSpc>
                <a:spcPts val="6300"/>
              </a:lnSpc>
            </a:pPr>
            <a:r>
              <a:rPr sz="5820" spc="-221">
                <a:solidFill>
                  <a:srgbClr val="17181C"/>
                </a:solidFill>
                <a:latin typeface="IBM Plex Sans Medm"/>
              </a:rPr>
              <a:t>on two 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47363"/>
            <a:ext cx="7467600" cy="3108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47"/>
              </a:lnSpc>
            </a:pPr>
            <a:r>
              <a:rPr sz="2039">
                <a:solidFill>
                  <a:srgbClr val="5F646C"/>
                </a:solidFill>
                <a:latin typeface="IBM Plex Sans"/>
              </a:rPr>
              <a:t>One sentence the audience leaves with.</a:t>
            </a:r>
          </a:p>
        </p:txBody>
      </p:sp>
      <p:pic>
        <p:nvPicPr>
          <p:cNvPr id="6" name="Picture 5" descr="carrier-light-04-4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1562100"/>
            <a:ext cx="3429000" cy="302514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609600" y="5631180"/>
            <a:ext cx="10972800" cy="0"/>
          </a:xfrm>
          <a:prstGeom prst="line">
            <a:avLst/>
          </a:prstGeom>
          <a:ln w="7620">
            <a:solidFill>
              <a:srgbClr val="E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5885878"/>
            <a:ext cx="10972800" cy="2103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5"/>
              </a:lnSpc>
            </a:pPr>
            <a:r>
              <a:rPr sz="1380">
                <a:solidFill>
                  <a:srgbClr val="17181C"/>
                </a:solidFill>
                <a:latin typeface="IBM Plex Sans Medm"/>
              </a:rPr>
              <a:t>Presenter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191060"/>
            <a:ext cx="10972800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2"/>
              </a:lnSpc>
            </a:pPr>
            <a:r>
              <a:rPr sz="1260">
                <a:solidFill>
                  <a:srgbClr val="5F646C"/>
                </a:solidFill>
                <a:latin typeface="IBM Plex Sans"/>
              </a:rPr>
              <a:t>Role,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0" y="6074839"/>
            <a:ext cx="3962400" cy="1737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68"/>
              </a:lnSpc>
            </a:pPr>
            <a:r>
              <a:rPr sz="1140">
                <a:solidFill>
                  <a:srgbClr val="5F646C"/>
                </a:solidFill>
                <a:latin typeface="Overpass Mono"/>
              </a:rPr>
              <a:t>spate.kainth.dev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ordmark-light-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9100"/>
            <a:ext cx="1181100" cy="419100"/>
          </a:xfrm>
          <a:prstGeom prst="rect">
            <a:avLst/>
          </a:prstGeom>
        </p:spPr>
      </p:pic>
      <p:pic>
        <p:nvPicPr>
          <p:cNvPr id="3" name="Picture 2" descr="carrier-light-02-4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22120"/>
            <a:ext cx="3596640" cy="307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35880" y="2180128"/>
            <a:ext cx="6446520" cy="164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</a:pPr>
            <a:r>
              <a:rPr sz="1080">
                <a:solidFill>
                  <a:srgbClr val="C04409"/>
                </a:solidFill>
                <a:latin typeface="Overpass Mono Medium"/>
              </a:rPr>
              <a:t>SECTION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7780" y="2476500"/>
            <a:ext cx="6484620" cy="1386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460"/>
              </a:lnSpc>
            </a:pPr>
            <a:r>
              <a:rPr sz="4800" spc="-120">
                <a:solidFill>
                  <a:srgbClr val="17181C"/>
                </a:solidFill>
                <a:latin typeface="IBM Plex Sans Medm"/>
              </a:rPr>
              <a:t>Section heading</a:t>
            </a:r>
          </a:p>
          <a:p>
            <a:pPr algn="l">
              <a:lnSpc>
                <a:spcPts val="5460"/>
              </a:lnSpc>
            </a:pPr>
            <a:r>
              <a:rPr sz="4800" spc="-120">
                <a:solidFill>
                  <a:srgbClr val="17181C"/>
                </a:solidFill>
                <a:latin typeface="IBM Plex Sans Medm"/>
              </a:rPr>
              <a:t>on two 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5880" y="4223576"/>
            <a:ext cx="6446520" cy="2651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</a:pPr>
            <a:r>
              <a:rPr sz="1739">
                <a:solidFill>
                  <a:srgbClr val="5F646C"/>
                </a:solidFill>
                <a:latin typeface="IBM Plex Sans"/>
              </a:rPr>
              <a:t>One line on what this section covers.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5798820"/>
            <a:ext cx="10972800" cy="0"/>
          </a:xfrm>
          <a:prstGeom prst="line">
            <a:avLst/>
          </a:prstGeom>
          <a:ln w="7620">
            <a:solidFill>
              <a:srgbClr val="E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00" y="6156876"/>
            <a:ext cx="3962400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23"/>
              </a:lnSpc>
            </a:pPr>
            <a:r>
              <a:rPr sz="1019">
                <a:solidFill>
                  <a:srgbClr val="5F646C"/>
                </a:solidFill>
                <a:latin typeface="Overpass Mono"/>
              </a:rPr>
              <a:t>spate.kainth.dev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78048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</a:pPr>
            <a:r>
              <a:rPr sz="1080">
                <a:solidFill>
                  <a:srgbClr val="C04409"/>
                </a:solidFill>
                <a:latin typeface="Overpass Mono Medium"/>
              </a:rPr>
              <a:t>SECTION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1069848"/>
            <a:ext cx="11003280" cy="5852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08"/>
              </a:lnSpc>
            </a:pPr>
            <a:r>
              <a:rPr sz="3840" spc="-96">
                <a:solidFill>
                  <a:srgbClr val="17181C"/>
                </a:solidFill>
                <a:latin typeface="IBM Plex Sans Medm"/>
              </a:rPr>
              <a:t>A slide heading on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157603"/>
            <a:ext cx="10972800" cy="1417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19"/>
              </a:lnSpc>
            </a:pPr>
            <a:r>
              <a:rPr sz="2039">
                <a:solidFill>
                  <a:srgbClr val="17181C"/>
                </a:solidFill>
                <a:latin typeface="IBM Plex Sans"/>
              </a:rPr>
              <a:t>The first point, in one sentence.</a:t>
            </a:r>
          </a:p>
          <a:p>
            <a:pPr algn="l">
              <a:lnSpc>
                <a:spcPts val="3719"/>
              </a:lnSpc>
            </a:pPr>
            <a:r>
              <a:rPr sz="2039">
                <a:solidFill>
                  <a:srgbClr val="17181C"/>
                </a:solidFill>
                <a:latin typeface="IBM Plex Sans"/>
              </a:rPr>
              <a:t>The second point, in one sentence.</a:t>
            </a:r>
          </a:p>
          <a:p>
            <a:pPr algn="l">
              <a:lnSpc>
                <a:spcPts val="3719"/>
              </a:lnSpc>
            </a:pPr>
            <a:r>
              <a:rPr sz="2039">
                <a:solidFill>
                  <a:srgbClr val="17181C"/>
                </a:solidFill>
                <a:latin typeface="IBM Plex Sans"/>
              </a:rPr>
              <a:t>The third point, in one sentence.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5798820"/>
            <a:ext cx="10972800" cy="0"/>
          </a:xfrm>
          <a:prstGeom prst="line">
            <a:avLst/>
          </a:prstGeom>
          <a:ln w="7620">
            <a:solidFill>
              <a:srgbClr val="E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600" y="6150148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</a:pPr>
            <a:r>
              <a:rPr sz="1080">
                <a:solidFill>
                  <a:srgbClr val="C04409"/>
                </a:solidFill>
                <a:latin typeface="Overpass Mono Medium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0" y="6156876"/>
            <a:ext cx="3962400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23"/>
              </a:lnSpc>
            </a:pPr>
            <a:r>
              <a:rPr sz="1019">
                <a:solidFill>
                  <a:srgbClr val="5F646C"/>
                </a:solidFill>
                <a:latin typeface="Overpass Mono"/>
              </a:rPr>
              <a:t>spate.kainth.dev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78048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</a:pPr>
            <a:r>
              <a:rPr sz="1080">
                <a:solidFill>
                  <a:srgbClr val="C04409"/>
                </a:solidFill>
                <a:latin typeface="Overpass Mono Medium"/>
              </a:rPr>
              <a:t>SECTION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1069848"/>
            <a:ext cx="11003280" cy="5852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08"/>
              </a:lnSpc>
            </a:pPr>
            <a:r>
              <a:rPr sz="3840" spc="-96">
                <a:solidFill>
                  <a:srgbClr val="17181C"/>
                </a:solidFill>
                <a:latin typeface="IBM Plex Sans Medm"/>
              </a:rPr>
              <a:t>A heading for the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996440"/>
            <a:ext cx="10972800" cy="3352800"/>
          </a:xfrm>
          <a:prstGeom prst="roundRect">
            <a:avLst>
              <a:gd name="adj" fmla="val 1818"/>
            </a:avLst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2358466"/>
            <a:ext cx="10241280" cy="146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79"/>
              </a:lnSpc>
            </a:pPr>
            <a:r>
              <a:rPr sz="1800">
                <a:solidFill>
                  <a:srgbClr val="E8E9EC"/>
                </a:solidFill>
                <a:latin typeface="Overpass Mono"/>
              </a:rPr>
              <a:t>// Replace with the code this slide discusses.</a:t>
            </a:r>
          </a:p>
          <a:p>
            <a:pPr algn="l">
              <a:lnSpc>
                <a:spcPts val="2879"/>
              </a:lnSpc>
            </a:pPr>
            <a:r>
              <a:rPr sz="1800">
                <a:solidFill>
                  <a:srgbClr val="E8E9EC"/>
                </a:solidFill>
                <a:latin typeface="Overpass Mono"/>
              </a:rPr>
              <a:t>fn main() {</a:t>
            </a:r>
          </a:p>
          <a:p>
            <a:pPr algn="l">
              <a:lnSpc>
                <a:spcPts val="2879"/>
              </a:lnSpc>
            </a:pPr>
            <a:r>
              <a:rPr sz="1800">
                <a:solidFill>
                  <a:srgbClr val="E8E9EC"/>
                </a:solidFill>
                <a:latin typeface="Overpass Mono"/>
              </a:rPr>
              <a:t>    println!("one pipeline, four stages");</a:t>
            </a:r>
          </a:p>
          <a:p>
            <a:pPr algn="l">
              <a:lnSpc>
                <a:spcPts val="2879"/>
              </a:lnSpc>
            </a:pPr>
            <a:r>
              <a:rPr sz="1800">
                <a:solidFill>
                  <a:srgbClr val="E8E9EC"/>
                </a:solidFill>
                <a:latin typeface="Overpass Mono"/>
              </a:rPr>
              <a:t>}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600" y="5798820"/>
            <a:ext cx="10972800" cy="0"/>
          </a:xfrm>
          <a:prstGeom prst="line">
            <a:avLst/>
          </a:prstGeom>
          <a:ln w="7620">
            <a:solidFill>
              <a:srgbClr val="E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600" y="6150148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</a:pPr>
            <a:r>
              <a:rPr sz="1080">
                <a:solidFill>
                  <a:srgbClr val="C04409"/>
                </a:solidFill>
                <a:latin typeface="Overpass Mono Medium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0" y="6156876"/>
            <a:ext cx="3962400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23"/>
              </a:lnSpc>
            </a:pPr>
            <a:r>
              <a:rPr sz="1019">
                <a:solidFill>
                  <a:srgbClr val="5F646C"/>
                </a:solidFill>
                <a:latin typeface="Overpass Mono"/>
              </a:rPr>
              <a:t>spate.kainth.dev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ordmark-light-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2286000"/>
            <a:ext cx="3657600" cy="131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038432"/>
            <a:ext cx="10972800" cy="3108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47"/>
              </a:lnSpc>
            </a:pPr>
            <a:r>
              <a:rPr sz="2039">
                <a:solidFill>
                  <a:srgbClr val="17181C"/>
                </a:solidFill>
                <a:latin typeface="Overpass Mono"/>
              </a:rPr>
              <a:t>spate.kainth.dev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50374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72"/>
              </a:lnSpc>
            </a:pPr>
            <a:r>
              <a:rPr sz="1560">
                <a:solidFill>
                  <a:srgbClr val="5F646C"/>
                </a:solidFill>
                <a:latin typeface="Overpass Mono"/>
              </a:rPr>
              <a:t>github.com/spate-etl/spate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ordmark-dark-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9100"/>
            <a:ext cx="1432560" cy="510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609519"/>
            <a:ext cx="10972800" cy="1737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68"/>
              </a:lnSpc>
            </a:pPr>
            <a:r>
              <a:rPr sz="1140">
                <a:solidFill>
                  <a:srgbClr val="FF8C4A"/>
                </a:solidFill>
                <a:latin typeface="Overpass Mono Medium"/>
              </a:rPr>
              <a:t>EVENT OR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" y="1932242"/>
            <a:ext cx="7467600" cy="1600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00"/>
              </a:lnSpc>
            </a:pPr>
            <a:r>
              <a:rPr sz="5820" spc="-221">
                <a:solidFill>
                  <a:srgbClr val="F4F5F6"/>
                </a:solidFill>
                <a:latin typeface="IBM Plex Sans Medm"/>
              </a:rPr>
              <a:t>Title of the talk,</a:t>
            </a:r>
          </a:p>
          <a:p>
            <a:pPr algn="l">
              <a:lnSpc>
                <a:spcPts val="6300"/>
              </a:lnSpc>
            </a:pPr>
            <a:r>
              <a:rPr sz="5820" spc="-221">
                <a:solidFill>
                  <a:srgbClr val="F4F5F6"/>
                </a:solidFill>
                <a:latin typeface="IBM Plex Sans Medm"/>
              </a:rPr>
              <a:t>on two 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47363"/>
            <a:ext cx="7467600" cy="3108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47"/>
              </a:lnSpc>
            </a:pPr>
            <a:r>
              <a:rPr sz="2039">
                <a:solidFill>
                  <a:srgbClr val="9AA1A9"/>
                </a:solidFill>
                <a:latin typeface="IBM Plex Sans"/>
              </a:rPr>
              <a:t>One sentence the audience leaves with.</a:t>
            </a:r>
          </a:p>
        </p:txBody>
      </p:sp>
      <p:pic>
        <p:nvPicPr>
          <p:cNvPr id="6" name="Picture 5" descr="carrier-dark-04-4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1562100"/>
            <a:ext cx="3429000" cy="302514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609600" y="5631180"/>
            <a:ext cx="10972800" cy="0"/>
          </a:xfrm>
          <a:prstGeom prst="line">
            <a:avLst/>
          </a:prstGeom>
          <a:ln w="7620">
            <a:solidFill>
              <a:srgbClr val="2B3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5885878"/>
            <a:ext cx="10972800" cy="2103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5"/>
              </a:lnSpc>
            </a:pPr>
            <a:r>
              <a:rPr sz="1380">
                <a:solidFill>
                  <a:srgbClr val="F4F5F6"/>
                </a:solidFill>
                <a:latin typeface="IBM Plex Sans Medm"/>
              </a:rPr>
              <a:t>Presenter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191060"/>
            <a:ext cx="10972800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2"/>
              </a:lnSpc>
            </a:pPr>
            <a:r>
              <a:rPr sz="1260">
                <a:solidFill>
                  <a:srgbClr val="9AA1A9"/>
                </a:solidFill>
                <a:latin typeface="IBM Plex Sans"/>
              </a:rPr>
              <a:t>Role,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0" y="6074839"/>
            <a:ext cx="3962400" cy="1737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68"/>
              </a:lnSpc>
            </a:pPr>
            <a:r>
              <a:rPr sz="1140">
                <a:solidFill>
                  <a:srgbClr val="9AA1A9"/>
                </a:solidFill>
                <a:latin typeface="Overpass Mono"/>
              </a:rPr>
              <a:t>spate.kainth.dev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ordmark-dark-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9100"/>
            <a:ext cx="1181100" cy="419100"/>
          </a:xfrm>
          <a:prstGeom prst="rect">
            <a:avLst/>
          </a:prstGeom>
        </p:spPr>
      </p:pic>
      <p:pic>
        <p:nvPicPr>
          <p:cNvPr id="3" name="Picture 2" descr="carrier-dark-02-4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22120"/>
            <a:ext cx="3596640" cy="307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35880" y="2180128"/>
            <a:ext cx="6446520" cy="164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</a:pPr>
            <a:r>
              <a:rPr sz="1080">
                <a:solidFill>
                  <a:srgbClr val="FF8C4A"/>
                </a:solidFill>
                <a:latin typeface="Overpass Mono Medium"/>
              </a:rPr>
              <a:t>SECTION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7780" y="2476500"/>
            <a:ext cx="6484620" cy="1386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460"/>
              </a:lnSpc>
            </a:pPr>
            <a:r>
              <a:rPr sz="4800" spc="-120">
                <a:solidFill>
                  <a:srgbClr val="F4F5F6"/>
                </a:solidFill>
                <a:latin typeface="IBM Plex Sans Medm"/>
              </a:rPr>
              <a:t>Section heading</a:t>
            </a:r>
          </a:p>
          <a:p>
            <a:pPr algn="l">
              <a:lnSpc>
                <a:spcPts val="5460"/>
              </a:lnSpc>
            </a:pPr>
            <a:r>
              <a:rPr sz="4800" spc="-120">
                <a:solidFill>
                  <a:srgbClr val="F4F5F6"/>
                </a:solidFill>
                <a:latin typeface="IBM Plex Sans Medm"/>
              </a:rPr>
              <a:t>on two 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5880" y="4223576"/>
            <a:ext cx="6446520" cy="2651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8"/>
              </a:lnSpc>
            </a:pPr>
            <a:r>
              <a:rPr sz="1739">
                <a:solidFill>
                  <a:srgbClr val="9AA1A9"/>
                </a:solidFill>
                <a:latin typeface="IBM Plex Sans"/>
              </a:rPr>
              <a:t>One line on what this section covers.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5798820"/>
            <a:ext cx="10972800" cy="0"/>
          </a:xfrm>
          <a:prstGeom prst="line">
            <a:avLst/>
          </a:prstGeom>
          <a:ln w="7620">
            <a:solidFill>
              <a:srgbClr val="2B3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00" y="6156876"/>
            <a:ext cx="3962400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23"/>
              </a:lnSpc>
            </a:pPr>
            <a:r>
              <a:rPr sz="1019">
                <a:solidFill>
                  <a:srgbClr val="9AA1A9"/>
                </a:solidFill>
                <a:latin typeface="Overpass Mono"/>
              </a:rPr>
              <a:t>spate.kainth.dev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78048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</a:pPr>
            <a:r>
              <a:rPr sz="1080">
                <a:solidFill>
                  <a:srgbClr val="FF8C4A"/>
                </a:solidFill>
                <a:latin typeface="Overpass Mono Medium"/>
              </a:rPr>
              <a:t>SECTION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1069848"/>
            <a:ext cx="11003280" cy="5852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08"/>
              </a:lnSpc>
            </a:pPr>
            <a:r>
              <a:rPr sz="3840" spc="-96">
                <a:solidFill>
                  <a:srgbClr val="F4F5F6"/>
                </a:solidFill>
                <a:latin typeface="IBM Plex Sans Medm"/>
              </a:rPr>
              <a:t>A slide heading on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157603"/>
            <a:ext cx="10972800" cy="1417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19"/>
              </a:lnSpc>
            </a:pPr>
            <a:r>
              <a:rPr sz="2039">
                <a:solidFill>
                  <a:srgbClr val="F4F5F6"/>
                </a:solidFill>
                <a:latin typeface="IBM Plex Sans"/>
              </a:rPr>
              <a:t>The first point, in one sentence.</a:t>
            </a:r>
          </a:p>
          <a:p>
            <a:pPr algn="l">
              <a:lnSpc>
                <a:spcPts val="3719"/>
              </a:lnSpc>
            </a:pPr>
            <a:r>
              <a:rPr sz="2039">
                <a:solidFill>
                  <a:srgbClr val="F4F5F6"/>
                </a:solidFill>
                <a:latin typeface="IBM Plex Sans"/>
              </a:rPr>
              <a:t>The second point, in one sentence.</a:t>
            </a:r>
          </a:p>
          <a:p>
            <a:pPr algn="l">
              <a:lnSpc>
                <a:spcPts val="3719"/>
              </a:lnSpc>
            </a:pPr>
            <a:r>
              <a:rPr sz="2039">
                <a:solidFill>
                  <a:srgbClr val="F4F5F6"/>
                </a:solidFill>
                <a:latin typeface="IBM Plex Sans"/>
              </a:rPr>
              <a:t>The third point, in one sentence.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" y="5798820"/>
            <a:ext cx="10972800" cy="0"/>
          </a:xfrm>
          <a:prstGeom prst="line">
            <a:avLst/>
          </a:prstGeom>
          <a:ln w="7620">
            <a:solidFill>
              <a:srgbClr val="2B3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600" y="6150148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</a:pPr>
            <a:r>
              <a:rPr sz="1080">
                <a:solidFill>
                  <a:srgbClr val="FF8C4A"/>
                </a:solidFill>
                <a:latin typeface="Overpass Mono Medium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0" y="6156876"/>
            <a:ext cx="3962400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23"/>
              </a:lnSpc>
            </a:pPr>
            <a:r>
              <a:rPr sz="1019">
                <a:solidFill>
                  <a:srgbClr val="9AA1A9"/>
                </a:solidFill>
                <a:latin typeface="Overpass Mono"/>
              </a:rPr>
              <a:t>spate.kainth.dev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78048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</a:pPr>
            <a:r>
              <a:rPr sz="1080">
                <a:solidFill>
                  <a:srgbClr val="FF8C4A"/>
                </a:solidFill>
                <a:latin typeface="Overpass Mono Medium"/>
              </a:rPr>
              <a:t>SECTION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9120" y="1069848"/>
            <a:ext cx="11003280" cy="5852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08"/>
              </a:lnSpc>
            </a:pPr>
            <a:r>
              <a:rPr sz="3840" spc="-96">
                <a:solidFill>
                  <a:srgbClr val="F4F5F6"/>
                </a:solidFill>
                <a:latin typeface="IBM Plex Sans Medm"/>
              </a:rPr>
              <a:t>A heading for the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996440"/>
            <a:ext cx="10972800" cy="3352800"/>
          </a:xfrm>
          <a:prstGeom prst="roundRect">
            <a:avLst>
              <a:gd name="adj" fmla="val 1818"/>
            </a:avLst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2358466"/>
            <a:ext cx="10241280" cy="146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79"/>
              </a:lnSpc>
            </a:pPr>
            <a:r>
              <a:rPr sz="1800">
                <a:solidFill>
                  <a:srgbClr val="E8E9EC"/>
                </a:solidFill>
                <a:latin typeface="Overpass Mono"/>
              </a:rPr>
              <a:t>// Replace with the code this slide discusses.</a:t>
            </a:r>
          </a:p>
          <a:p>
            <a:pPr algn="l">
              <a:lnSpc>
                <a:spcPts val="2879"/>
              </a:lnSpc>
            </a:pPr>
            <a:r>
              <a:rPr sz="1800">
                <a:solidFill>
                  <a:srgbClr val="E8E9EC"/>
                </a:solidFill>
                <a:latin typeface="Overpass Mono"/>
              </a:rPr>
              <a:t>fn main() {</a:t>
            </a:r>
          </a:p>
          <a:p>
            <a:pPr algn="l">
              <a:lnSpc>
                <a:spcPts val="2879"/>
              </a:lnSpc>
            </a:pPr>
            <a:r>
              <a:rPr sz="1800">
                <a:solidFill>
                  <a:srgbClr val="E8E9EC"/>
                </a:solidFill>
                <a:latin typeface="Overpass Mono"/>
              </a:rPr>
              <a:t>    println!("one pipeline, four stages");</a:t>
            </a:r>
          </a:p>
          <a:p>
            <a:pPr algn="l">
              <a:lnSpc>
                <a:spcPts val="2879"/>
              </a:lnSpc>
            </a:pPr>
            <a:r>
              <a:rPr sz="1800">
                <a:solidFill>
                  <a:srgbClr val="E8E9EC"/>
                </a:solidFill>
                <a:latin typeface="Overpass Mono"/>
              </a:rPr>
              <a:t>}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600" y="5798820"/>
            <a:ext cx="10972800" cy="0"/>
          </a:xfrm>
          <a:prstGeom prst="line">
            <a:avLst/>
          </a:prstGeom>
          <a:ln w="7620">
            <a:solidFill>
              <a:srgbClr val="2B3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600" y="6150148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</a:pPr>
            <a:r>
              <a:rPr sz="1080">
                <a:solidFill>
                  <a:srgbClr val="FF8C4A"/>
                </a:solidFill>
                <a:latin typeface="Overpass Mono Medium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0" y="6156876"/>
            <a:ext cx="3962400" cy="1554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23"/>
              </a:lnSpc>
            </a:pPr>
            <a:r>
              <a:rPr sz="1019">
                <a:solidFill>
                  <a:srgbClr val="9AA1A9"/>
                </a:solidFill>
                <a:latin typeface="Overpass Mono"/>
              </a:rPr>
              <a:t>spate.kainth.dev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ordmark-dark-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2286000"/>
            <a:ext cx="3657600" cy="1310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038432"/>
            <a:ext cx="10972800" cy="3108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47"/>
              </a:lnSpc>
            </a:pPr>
            <a:r>
              <a:rPr sz="2039">
                <a:solidFill>
                  <a:srgbClr val="F4F5F6"/>
                </a:solidFill>
                <a:latin typeface="Overpass Mono"/>
              </a:rPr>
              <a:t>spate.kainth.dev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503740"/>
            <a:ext cx="1097280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72"/>
              </a:lnSpc>
            </a:pPr>
            <a:r>
              <a:rPr sz="1560">
                <a:solidFill>
                  <a:srgbClr val="9AA1A9"/>
                </a:solidFill>
                <a:latin typeface="Overpass Mono"/>
              </a:rPr>
              <a:t>github.com/spate-etl/spate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Spate slides</dc:title>
  <dc:subject/>
  <dc:creator>Spate</dc:creator>
  <cp:keywords/>
  <dc:description>generated using python-pptx</dc:description>
  <cp:lastModifiedBy>Spate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